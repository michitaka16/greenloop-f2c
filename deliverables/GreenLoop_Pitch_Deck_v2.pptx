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3D2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3D20"/>
                </a:solidFill>
                <a:latin typeface="Arial"/>
              </a:rPr>
              <a:t>Water saved — past 7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saved (L)</c:v>
                </c:pt>
              </c:strCache>
            </c:strRef>
          </c:tx>
          <c:spPr>
            <a:solidFill>
              <a:srgbClr val="2B7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1620</c:v>
                </c:pt>
                <c:pt idx="1">
                  <c:v>1780</c:v>
                </c:pt>
                <c:pt idx="2">
                  <c:v>1840</c:v>
                </c:pt>
                <c:pt idx="3">
                  <c:v>1720</c:v>
                </c:pt>
                <c:pt idx="4">
                  <c:v>1890</c:v>
                </c:pt>
                <c:pt idx="5">
                  <c:v>1650</c:v>
                </c:pt>
                <c:pt idx="6">
                  <c:v>1700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3D2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3D20"/>
                </a:solidFill>
                <a:latin typeface="Arial"/>
              </a:rPr>
              <a:t>CO₂ avoided — past 7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CO₂ avoided (kg)</c:v>
                </c:pt>
              </c:strCache>
            </c:strRef>
          </c:tx>
          <c:spPr>
            <a:solidFill>
              <a:srgbClr val="1A5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</c:v>
                </c:pt>
                <c:pt idx="1">
                  <c:v>118</c:v>
                </c:pt>
                <c:pt idx="2">
                  <c:v>124</c:v>
                </c:pt>
                <c:pt idx="3">
                  <c:v>115</c:v>
                </c:pt>
                <c:pt idx="4">
                  <c:v>126</c:v>
                </c:pt>
                <c:pt idx="5">
                  <c:v>110</c:v>
                </c:pt>
                <c:pt idx="6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3657600"/>
            <a:ext cx="3200400" cy="3200400"/>
          </a:xfrm>
          <a:prstGeom prst="ellipse">
            <a:avLst/>
          </a:prstGeom>
          <a:solidFill>
            <a:srgbClr val="F4A022">
              <a:alpha val="20000"/>
            </a:srgbClr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seed to consumer — one AI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Singapore's integrated Farm-to-Consumer AI platform  ·  </a:t>
            </a:r>
            <a:pPr indent="0" marL="0">
              <a:buNone/>
            </a:pPr>
            <a:r>
              <a:rPr lang="en-US" sz="13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Final Pitch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655 — Machine Learning for Decision Making  ·  Dr. Jack Hong  ·  SMU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imports 90% of its food.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is spending SGD 70M to fix it. We're building the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Singapore's food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imported today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657600" cy="41148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70M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251960" y="3657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ACTF funding for farms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AI &amp; automation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657600" cy="411480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011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8046720" y="3840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farm → consumer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 manager makes 4 critical decisions every 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any one wrong and profit collapses.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137160" cy="2011680"/>
          </a:xfrm>
          <a:prstGeom prst="rect">
            <a:avLst/>
          </a:prstGeom>
          <a:solidFill>
            <a:srgbClr val="C8431F"/>
          </a:solidFill>
          <a:ln w="12700">
            <a:solidFill>
              <a:srgbClr val="C843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🌾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grow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514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→ food rots. Too little → orders lost.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645920"/>
            <a:ext cx="137160" cy="2011680"/>
          </a:xfrm>
          <a:prstGeom prst="rect">
            <a:avLst/>
          </a:prstGeom>
          <a:solidFill>
            <a:srgbClr val="C8431F"/>
          </a:solidFill>
          <a:ln w="12700">
            <a:solidFill>
              <a:srgbClr val="C843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9808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run LEDs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2514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doubles during peak hours.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931920"/>
            <a:ext cx="137160" cy="2011680"/>
          </a:xfrm>
          <a:prstGeom prst="rect">
            <a:avLst/>
          </a:prstGeom>
          <a:solidFill>
            <a:srgbClr val="C8431F"/>
          </a:solidFill>
          <a:ln w="12700">
            <a:solidFill>
              <a:srgbClr val="C843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✂️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harvest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4800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 early = 20% yield loss.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931920"/>
            <a:ext cx="137160" cy="2011680"/>
          </a:xfrm>
          <a:prstGeom prst="rect">
            <a:avLst/>
          </a:prstGeom>
          <a:solidFill>
            <a:srgbClr val="C8431F"/>
          </a:solidFill>
          <a:ln w="12700">
            <a:solidFill>
              <a:srgbClr val="C843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498080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sell direct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4800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commerce needs instant answers.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three structural tailwinds converge in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Story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pivoted from '30 by 30' to quality &amp; efficiency goals.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agriculture explicitly prioritized.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645920"/>
            <a:ext cx="365760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70M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772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ACTF funding live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grant for farms adopting AI &amp; automation.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customers already have capital.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645920"/>
            <a:ext cx="3657600" cy="36576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50392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Greenphyto proof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38404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tallest AI hydroponic farm opened in Singapore.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demand is proven.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Five AI layers. Six ML techniques.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serves the farm's business.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554480"/>
            <a:ext cx="3200400" cy="457200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554480"/>
            <a:ext cx="3017520" cy="457200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Whom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1554480"/>
            <a:ext cx="2468880" cy="457200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28600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2011680"/>
            <a:ext cx="320040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011680"/>
            <a:ext cx="301752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2011680"/>
            <a:ext cx="246888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91440" cy="91440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+ PPO RL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Farms: yield &amp; quality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SaaS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286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926080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9260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2926080"/>
            <a:ext cx="2468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26080"/>
            <a:ext cx="91440" cy="91440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803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MILP + VRP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Farms: delivery efficiency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9828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SaaS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228600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840480"/>
            <a:ext cx="320040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840480"/>
            <a:ext cx="301752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0" y="3840480"/>
            <a:ext cx="2468880" cy="914400"/>
          </a:xfrm>
          <a:prstGeom prst="rect">
            <a:avLst/>
          </a:prstGeom>
          <a:solidFill>
            <a:srgbClr val="F2FA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840480"/>
            <a:ext cx="9144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023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8036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UMAP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8076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sales support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9828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take-rate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2286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4754880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47548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1120" y="4754880"/>
            <a:ext cx="2468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754880"/>
            <a:ext cx="9144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937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88036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(ChromaDB + Claude)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08076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sales support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098280" y="4937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take-rate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4A022">
              <a:alpha val="15000"/>
            </a:srgbClr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ML families × 4 course domains — the broadest technical coverage achievable in MGMT 655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Layer 1b — Transfer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diagnoses growth stage + nutrition status from rack photos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crop rack photo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appears in 200ms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updates in real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645920"/>
            <a:ext cx="6035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645920"/>
            <a:ext cx="137160" cy="137160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1874520"/>
            <a:ext cx="914400" cy="914400"/>
          </a:xfrm>
          <a:prstGeom prst="ellipse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9494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Ready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today's harvest schedule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3200400"/>
            <a:ext cx="6035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3200400"/>
            <a:ext cx="137160" cy="137160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3429000"/>
            <a:ext cx="914400" cy="914400"/>
          </a:xfrm>
          <a:prstGeom prst="ellipse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4944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Low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3886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cost +15% in plan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4754880"/>
            <a:ext cx="6035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4754880"/>
            <a:ext cx="137160" cy="137160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4983480"/>
            <a:ext cx="914400" cy="914400"/>
          </a:xfrm>
          <a:prstGeom prst="ellipse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4983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4944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41280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88%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5440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frequency +1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Layer 2 — OR-Tools MILP optimizer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LED · 3 shifts · 5 crops · nutrient delivery — all solved simultaneously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Solver would need 30+ minutes for a worse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1,025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tariff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0" y="164592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401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energy + labour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Opt.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→ MILP constraint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397764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14400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estimated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Layer 3 — PPO Reinforcement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 runs itself. Sensor → reasoning → action loop, every minute, 24/7.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200400" cy="182880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humidity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· moisture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2286000"/>
            <a:ext cx="3200400" cy="182880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· 500+ 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2286000"/>
            <a:ext cx="3200400" cy="182880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 · pump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 · LED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0" y="3200400"/>
            <a:ext cx="182880" cy="0"/>
          </a:xfrm>
          <a:prstGeom prst="line">
            <a:avLst/>
          </a:prstGeom>
          <a:noFill/>
          <a:ln w="38100">
            <a:solidFill>
              <a:srgbClr val="0D3D2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0" y="3200400"/>
            <a:ext cx="182880" cy="0"/>
          </a:xfrm>
          <a:prstGeom prst="line">
            <a:avLst/>
          </a:prstGeom>
          <a:noFill/>
          <a:ln w="38100">
            <a:solidFill>
              <a:srgbClr val="0D3D2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C8431F">
              <a:alpha val="8000"/>
            </a:srgbClr>
          </a:solidFill>
          <a:ln w="12700">
            <a:solidFill>
              <a:srgbClr val="C843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Safety boundary: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halts if any action would violate MOM labor regulations, LED safety thresholds, or food-safety harvest windows. Escalates to Farm Manager automatically.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risk for an indoor vertical farm: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→ Power outage → Crops die in hours.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C8431F"/>
          </a:solidFill>
          <a:ln w="12700">
            <a:solidFill>
              <a:srgbClr val="C843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TYPHOON WARNING · 30% POWER OUTAGE PROBABILITY · UPS COUNTDOWN: 04:00:00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2148840" cy="36576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button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button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749040"/>
            <a:ext cx="146304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52344" y="237744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52344" y="2377440"/>
            <a:ext cx="214884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MILP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43784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87ms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843784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mode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01184" y="3749040"/>
            <a:ext cx="146304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47488" y="237744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47488" y="2377440"/>
            <a:ext cx="2148840" cy="365760"/>
          </a:xfrm>
          <a:prstGeom prst="rect">
            <a:avLst/>
          </a:prstGeom>
          <a:solidFill>
            <a:srgbClr val="C8431F"/>
          </a:solidFill>
          <a:ln w="12700">
            <a:solidFill>
              <a:srgbClr val="C843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timer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38928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138928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power loss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96328" y="3749040"/>
            <a:ext cx="146304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42632" y="237744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42632" y="2377440"/>
            <a:ext cx="214884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34072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2b VRP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34072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147km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434072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reroute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window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91472" y="3749040"/>
            <a:ext cx="146304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37776" y="237744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37776" y="2377440"/>
            <a:ext cx="2148840" cy="36576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9216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demand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29216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Rainy-day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delivery-delay simulator — a full resilience cascade in under 250 ms.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farming's greatest risk is power loss. We design for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— measured live, not claimed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Story 2 mandates quality + efficiency. We quantify both.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1,840 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conventional (95% less)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737360"/>
            <a:ext cx="2743200" cy="32004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kg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reduction incl. delivery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737360"/>
            <a:ext cx="274320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kWh/kg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9224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2.5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73736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737360"/>
            <a:ext cx="2743200" cy="32004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energy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2560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41832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70%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4754880"/>
          <a:ext cx="54864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6217920" y="4754880"/>
          <a:ext cx="54864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Retail AI — who buys from GreenLoop?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K-means discovers 4 actionable customer segments. Silhouette: 0.765.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137160" cy="91440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Subscribers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68 avg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frequency, premium price tolerance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88920"/>
            <a:ext cx="13716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Buyers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142 avg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+ hotels; weekly large orders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137160" cy="91440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Commerce Fans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45 avg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buyers during farm live streams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892040"/>
            <a:ext cx="137160" cy="91440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Shoppers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7200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28 avg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Occasional, price-sensitive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Segment data feeds into Layer 2 MILP → higher demand for spinach &amp; kai lan prioritized in tomorrow's production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Media AI — RAG chatbot answers consumers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sentence-transformers + Claude API. Grounded in farm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0"/>
            <a:ext cx="5486400" cy="54864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0" y="1645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pesticides used on the kai lan?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91440" cy="54864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Pesticide-free. Organic certified. Harvested 12 Apr 2026.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3017520"/>
            <a:ext cx="5486400" cy="54864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3017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carbon footprint?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657600"/>
            <a:ext cx="91440" cy="54864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57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lower than conventional farms. 0.3 kg-CO₂/kg incl. delivery.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4389120"/>
            <a:ext cx="5486400" cy="548640"/>
          </a:xfrm>
          <a:prstGeom prst="rect">
            <a:avLst/>
          </a:prstGeom>
          <a:solidFill>
            <a:srgbClr val="2B7FB8"/>
          </a:solidFill>
          <a:ln w="12700">
            <a:solidFill>
              <a:srgbClr val="2B7FB8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4389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fresh is this?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5029200"/>
            <a:ext cx="91440" cy="54864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29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Harvested 6am today. 3 hours ago. Freshness score: 98/100.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4A022">
              <a:alpha val="15000"/>
            </a:srgbClr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· </a:t>
            </a:r>
            <a:pPr algn="ctr" indent="0" marL="0">
              <a:buNone/>
            </a:pPr>
            <a:r>
              <a:rPr lang="en-US" sz="1800" b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hallucinations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answer cites farm data) · </a:t>
            </a:r>
            <a:pPr algn="ctr" indent="0" marL="0">
              <a:buNone/>
            </a:pPr>
            <a:r>
              <a:rPr lang="en-US" sz="1800" b="1" dirty="0">
                <a:solidFill>
                  <a:srgbClr val="2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two streams + expansion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is near zero. ACTF grants pay for 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640080"/>
          </a:xfrm>
          <a:prstGeom prst="rect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Farm 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ACTF-funded farms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547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500 / month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370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farms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3291840" cy="822960"/>
          </a:xfrm>
          <a:prstGeom prst="rect">
            <a:avLst/>
          </a:prstGeom>
          <a:solidFill>
            <a:srgbClr val="1A5A2D">
              <a:alpha val="15000"/>
            </a:srgbClr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1.2M ARR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61688" y="164592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1688" y="1645920"/>
            <a:ext cx="365760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Live Commerce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4568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44568" y="2724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consumers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44568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3547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GMV take-rate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44568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target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4370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members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5120640"/>
            <a:ext cx="3291840" cy="822960"/>
          </a:xfrm>
          <a:prstGeom prst="rect">
            <a:avLst/>
          </a:prstGeom>
          <a:solidFill>
            <a:srgbClr val="97BC62">
              <a:alpha val="1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5.4M GMV/yr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66176" y="164592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66176" y="1645920"/>
            <a:ext cx="3657600" cy="640080"/>
          </a:xfrm>
          <a:prstGeom prst="rect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49056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Licence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49056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49056" y="2724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vertical farms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49056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49056" y="3547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80K / farm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49056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target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49056" y="4370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expansion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449056" y="5120640"/>
            <a:ext cx="3291840" cy="822960"/>
          </a:xfrm>
          <a:prstGeom prst="rect">
            <a:avLst/>
          </a:prstGeom>
          <a:solidFill>
            <a:srgbClr val="F4A022">
              <a:alpha val="15000"/>
            </a:srgbClr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9056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Greenphyto model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Flywheel: more farms → more produce variety → more consumers → stronger demand signals → better planning → more farms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domain knowledge × AI layers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field-level constraints no AI startup can replicate without years of embedding.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920240"/>
            <a:ext cx="1371600" cy="1371600"/>
          </a:xfrm>
          <a:prstGeom prst="ellipse">
            <a:avLst/>
          </a:prstGeom>
          <a:solidFill>
            <a:srgbClr val="1A5A2D"/>
          </a:solidFill>
          <a:ln w="12700">
            <a:solidFill>
              <a:srgbClr val="1A5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1b + Layer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+ RL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topology · LED reflectance · crop growth physics — defines RL simulation 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04688" y="1920240"/>
            <a:ext cx="1371600" cy="13716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44568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44568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+ Layer 2b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+ VRP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48463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labour regulations · delivery compliance — encoded as hard MILP constraints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66176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09176" y="1920240"/>
            <a:ext cx="1371600" cy="1371600"/>
          </a:xfrm>
          <a:prstGeom prst="ellipse">
            <a:avLst/>
          </a:prstGeom>
          <a:solidFill>
            <a:srgbClr val="F4A022"/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9176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449056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PCG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49056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49056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0496" y="48463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constraint-coding experience applied to integrating all 6 AI layers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MGMT 655  ·  Week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3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97BC62">
              <a:alpha val="12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F4A022">
              <a:alpha val="15000"/>
            </a:srgbClr>
          </a:solidFill>
          <a:ln w="12700">
            <a:solidFill>
              <a:srgbClr val="F4A0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solve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97180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21208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523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45236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6926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4A0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Entrepreneur-in-residence </a:t>
            </a:r>
            <a:pPr indent="0" marL="0">
              <a:buNone/>
            </a:pPr>
            <a:r>
              <a:rPr lang="en-US" sz="2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·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50,000 </a:t>
            </a:r>
            <a:pPr indent="0" marL="0">
              <a:buNone/>
            </a:pPr>
            <a:r>
              <a:rPr lang="en-US" sz="2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 equity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ship. We'll see you in Singapore.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GreenLoop F2C  ·  From seed to consumer — one AI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A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prepared for 50 of your questions.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away.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GreenLoop F2C</dc:title>
  <dc:subject>PptxGenJS Presentation</dc:subject>
  <dc:creator>GreenLoop Team</dc:creator>
  <cp:lastModifiedBy>GreenLoop Team</cp:lastModifiedBy>
  <cp:revision>1</cp:revision>
  <dcterms:created xsi:type="dcterms:W3CDTF">2026-04-21T03:13:05Z</dcterms:created>
  <dcterms:modified xsi:type="dcterms:W3CDTF">2026-04-21T03:13:05Z</dcterms:modified>
</cp:coreProperties>
</file>